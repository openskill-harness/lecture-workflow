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시간에는 스프링 부트 기초 과정의 첫 번째 주제인 서버 프로그램과 웹 애플리케이션 실행 환경을 살펴보겠습니다. 오늘은 아직 복잡한 코드를 많이 작성하지 않습니다. 대신 우리가 앞으로 만들 Spring Boot 애플리케이션이 어디에서 실행되고, 브라우저 요청을 어떻게 받고, 왜 별도의 Tomcat 설치 없이 바로 실행되는지를 큰 그림으로 이해하는 시간이 됩니다. 이 차시를 잘 잡아두면 뒤에서 Controller, REST API, JPA, 테스트를 배울 때 “내 코드가 실제 요청 흐름에서 어디에 놓이는지”가 훨씬 선명해집니다.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본격적인 이론으로 들어가기 전에 최신 흐름을 하나 보겠습니다. 2026년 현재 Spring Boot 공식 문서의 4.1.0 기준을 보면 Java 17 이상에서 동작하고, Gradle은 8.14 이상 또는 9.x를 명시적으로 지원합니다. 이 과정은 장기 지원 버전으로 많이 쓰이는 JDK 21, Spring Boot 4.1.0, Gradle, Spring Tools for Eclipse 5.2.0 이상을 실습 기준으로 잡겠습니다. 동시에 전자정부 표준프레임워크의 심플홈페이지 BackEnd 예제처럼 공공 예제에서도 BackEnd와 FrontEnd를 분리하고 Spring Boot 기반 BackEnd를 제공하는 흐름을 볼 수 있습니다. 여기서 중요한 메시지는 하나입니다. 요즘 서버 프로그램은 단순히 HTML 화면만 만들어 주는 역할에 머물지 않습니다. 브라우저나 프론트엔드 앱이 요청을 보내면, 서버는 API로 데이터를 응답하고, 그 과정에서 HTTP, Controller, 내장 서버, 실행 환경이 모두 함께 작동합니다. 그래서 우리는 첫 시간에 “서버 프로그램이 무엇이고, Spring Boot는 그 서버 프로그램을 어떻게 실행시키는가”를 먼저 보려는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차시의 핵심은 요청과 응답입니다. 사용자가 브라우저에서 주소를 입력하거나 버튼을 클릭하면 요청이 만들어집니다. 그 요청은 네트워크를 지나 서버 프로그램에 도착하고, 서버 프로그램은 필요한 처리를 한 뒤 응답을 돌려줍니다. 오늘은 이 흐름을 아주 쉬운 수준에서 잡아보겠습니다. 첫째, 서버 프로그램이 하는 일을 이해합니다. 둘째, 웹 서버와 웹 애플리케이션 서버가 어떤 점에서 다른지 봅니다. 셋째, Spring Boot에서는 왜 Tomcat을 따로 설치하지 않아도 애플리케이션이 실행되는지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서버 프로그램을 아주 단순하게 말하면, 요청을 받고 응답을 돌려주는 프로그램입니다. 여기서 요청은 사용자가 원하는 일입니다. 예를 들어 “공지사항 목록을 보여 주세요”, “회원 정보를 저장해 주세요”, “Todo 하나를 등록해 주세요” 같은 것이 요청입니다. 서버 프로그램은 이 요청을 해석하고, 필요한 로직을 실행하고, 데이터가 필요하면 데이터베이스와도 이야기한 뒤, 결과를 응답으로 돌려줍니다. 이 구조를 식당에 비유하면 쉽습니다. 손님은 브라우저입니다. 주문서는 HTTP 요청입니다. 주방은 서버 프로그램입니다. 완성된 음식은 HTTP 응답입니다. 앞으로 우리가 작성할 Controller, Service, Repository 코드는 모두 이 주방 안에서 각자 맡은 일을 하는 구성원이라고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브라우저와 서버가 아무 규칙 없이 대화하면 서로 알아들을 수 없습니다. 그래서 웹에서는 HTTP라는 약속을 사용합니다. HTTP 요청은 브라우저가 서버에 보내는 메시지입니다. 예를 들어 `GET /hello`는 `/hello`라는 자원을 가져오고 싶다는 뜻입니다. 서버는 요청을 처리한 뒤 응답을 돌려줍니다. 응답에는 성공 여부를 나타내는 상태 코드가 들어갑니다. 대표적으로 `200 OK`는 요청이 성공했다는 뜻입니다. 이 흐름을 택배 운송장으로 생각해도 좋습니다. 주소가 잘못되면 택배가 엉뚱한 곳으로 갑니다. HTTP 요청에서도 경로, 메서드, 헤더, 본문 같은 정보가 맞아야 서버가 원하는 처리를 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HTTP 메시지는 생각보다 사람이 읽기 쉬운 구조로 되어 있습니다. 요청에는 어떤 방식으로 요청하는지, 어느 경로를 요청하는지, 추가 정보가 무엇인지가 들어갑니다. 응답에는 요청이 성공했는지 실패했는지를 나타내는 상태 코드와 실제 응답 내용이 들어갑니다. 이 구조를 알면 나중에 REST API를 만들 때 훨씬 편합니다. 예를 들어 GET은 조회, POST는 등록처럼 역할을 나누어 생각할 수 있습니다. 오늘은 아주 깊게 들어가지는 않지만, “브라우저와 서버는 요청 메시지와 응답 메시지를 주고받는다”는 그림만은 꼭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웹 서버와 웹 애플리케이션 서버의 차이를 보겠습니다. 먼저 웹 서버는 정적 파일을 전달하는 역할에 강합니다. 정적 파일은 이미 만들어져 있는 파일입니다. HTML, CSS, JavaScript, 이미지 파일처럼 요청이 들어올 때마다 복잡한 계산을 하지 않아도 되는 리소스입니다. 웹 서버를 매장 입구 안내 직원으로 생각하면 쉽습니다. 손님이 메뉴판을 달라고 하면 바로 꺼내 줍니다. 하지만 손님이 “내 주문 상태를 확인해 주세요”처럼 개인별 처리가 필요한 요청을 하면, 안내 직원은 담당 부서나 주방으로 요청을 넘겨야 합니다. 그때 등장하는 것이 웹 애플리케이션 서버입니다.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WAS는 Web Application Server의 줄임말입니다. 이름 그대로 웹 애플리케이션이 실행되는 서버입니다. 여기서는 단순히 파일을 전달하는 수준을 넘어 애플리케이션 코드가 실제로 동작합니다. 로그인, 게시글 등록, 주문 처리, 데이터베이스 조회처럼 요청마다 결과가 달라지는 일을 처리합니다. Spring Boot로 만든 웹 애플리케이션도 결국 이런 애플리케이션 로직을 실행합니다. 다만 Spring Boot에서는 내장 Tomcat 같은 서버가 애플리케이션 안에 함께 들어와 실행되기 때문에, 초보자 입장에서는 “서버 설치”보다 “애플리케이션 실행”으로 시작할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Spring Boot를 제대로 이해하려면 과거 방식도 잠깐 볼 필요가 있습니다. 전통적인 Java 웹 애플리케이션에서는 Tomcat 같은 서버를 따로 설치하고, 우리가 만든 애플리케이션을 WAR 파일로 만들어 그 서버에 배포하는 흐름이 많았습니다. 이 방식은 여전히 사용할 수 있지만, 초보자가 처음 배우기에는 설정할 것이 많습니다. Tomcat 버전, 포트, 배포 경로, 서버 설정이 맞아야 합니다. 그래서 개발 환경이 조금만 달라도 “내 PC에서는 되는데 다른 PC에서는 안 된다”는 문제가 생기기 쉽습니다. Spring Boot는 이런 시작 장벽을 크게 낮춰 줍니다.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Spring Boot의 매우 중요한 특징은 내장 서버입니다. Spring Boot 애플리케이션을 실행하면, 우리가 만든 코드만 실행되는 것이 아닙니다. `main()` 메서드가 `SpringApplication.run()`을 호출하고, 이 과정에서 Spring 애플리케이션이 시작됩니다. 웹 애플리케이션에 필요한 의존성이 들어 있으면 Spring Boot가 웹 애플리케이션이라고 판단하고 내장 Tomcat을 함께 시작합니다. 그래서 개발자는 외부 Tomcat을 따로 설치하지 않아도 `localhost:8080`으로 접속해서 결과를 확인할 수 있습니다. 방금 비유한 것처럼, 공연장을 따로 빌리는 방식이 아니라 푸드트럭처럼 실행에 필요한 환경을 함께 가지고 움직이는 느낌입니다.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Spring Boot를 쓰면 설정이 완전히 사라지는 것은 아닙니다. 하지만 기본 설정의 부담이 크게 줄어듭니다. 자동 설정은 프로젝트의 의존성과 상황을 보고 “이 프로젝트는 웹 애플리케이션이겠구나”, “그러면 Spring MVC와 Tomcat 구성이 필요하겠구나”처럼 기본 구성을 잡아주는 기능입니다. 이것은 초보자에게 특히 중요합니다. 처음부터 모든 설정을 직접 작성하려고 하면, 서버 프로그램을 만들기도 전에 설정 파일에서 길을 잃을 수 있습니다. Spring Boot는 일단 동작하는 기본값을 제공하고, 개발자가 필요할 때 그 기본값을 바꿀 수 있게 해줍니다.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실무적인 장점을 하나 짚고 넘어가겠습니다. Spring Boot를 쓰면 개발자가 서버 설치와 배포 설정부터 배우지 않아도, 먼저 애플리케이션을 실행해 볼 수 있습니다. 물론 운영 환경에서는 여전히 배포와 설정이 중요합니다. 하지만 학습과 개발 초기 단계에서는 “일단 실행된다”는 경험이 매우 중요합니다. 실행이 되어야 요청을 보내 보고, 로그를 보고, Controller 코드를 고쳐 보고, 다시 결과를 확인할 수 있습니다. Spring Tools와 Spring Boot는 이 시작 경험을 단순하게 만들어 줍니다. 그래서 우리는 오늘 STS4에서 직접 애플리케이션을 실행해 보고, 브라우저에서 응답을 확인할 예정입니다.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실습으로 넘어가겠습니다. 오늘 만들 코드는 아주 작습니다. `/hello`라는 주소로 요청이 들어오면 `Hello Spring Boot`라는 문자열을 응답하는 서버 프로그램입니다. 이 작은 예제가 중요한 이유는, 앞으로 만들 모든 API가 같은 구조를 확장하기 때문입니다. 주소를 정하고, 요청을 받고, 메서드를 실행하고, 응답을 돌려주는 흐름은 동일합니다. 오늘은 복잡한 데이터베이스나 화면은 사용하지 않습니다. 대신 서버가 켜지고, 브라우저 요청이 들어오고, 응답이 나가는 전체 흐름을 눈으로 확인하는 데 집중합니다.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STS4에서 Spring Starter Project를 만들어 보겠습니다. 여기서 Group, Artifact, Name, Package 같은 항목을 입력합니다. 지금은 이름 자체보다 “프로젝트 기본 구조를 자동으로 만든다”는 점이 중요합니다. 우리가 MVC 웹 애플리케이션을 만들 것이기 때문에 Web MVC 스타터를 추가합니다. 이 스타터가 들어가면 Spring Boot는 이 프로젝트가 웹 요청을 받을 애플리케이션이라고 판단할 수 있습니다. 나중에 자동 설정과 내장 서버가 이 정보를 활용합니다.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의존성은 Spring Boot에게 중요한 힌트를 줍니다. Spring Boot 4.1.0 기준의 MVC 웹 실습에서는 `spring-boot-starter-webmvc`를 사용합니다. 이 스타터가 들어가면 프로젝트 안에 웹 요청을 처리하는 데 필요한 Spring MVC와 내장 Tomcat 관련 라이브러리들이 들어옵니다. Spring Boot는 클래스패스에 어떤 라이브러리가 있는지 보고 기본 설정을 추정합니다. 그래서 Web MVC 스타터가 있으면 “이 프로젝트는 MVC 웹 애플리케이션이겠구나”라고 판단하고 Spring MVC와 내장 Tomcat 구성을 준비합니다. 이 지점이 Spring Boot의 시작 경험을 편하게 만드는 핵심입니다. 개발자는 처음부터 서버 설정 파일을 모두 작성하지 않고, Controller 코드부터 작성해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Controller를 작성합니다. `@RestController`는 이 클래스가 웹 요청을 처리하는 Controller 역할을 한다는 표시입니다. `@GetMapping("/hello")`는 `/hello` 경로로 들어오는 GET 요청을 이 메서드가 처리한다는 뜻입니다. 메서드는 문자열을 반환합니다. `@RestController`를 사용하면 이 문자열은 별도 화면 템플릿으로 가지 않고, 응답 본문에 바로 담겨 브라우저로 전달됩니다. 지금은 코드가 아주 짧지만, 이 구조가 뒤에서 REST API를 만들 때 계속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Java 애플리케이션의 시작점은 `main()` 메서드입니다. Spring Boot 애플리케이션도 마찬가지입니다. 다만 `main()` 안에서 직접 서버를 하나하나 만드는 것이 아니라 `SpringApplication.run()`을 호출합니다. 이 호출이 Spring Boot 애플리케이션 시작의 핵심입니다. Spring 컨테이너가 시작되고, 필요한 Bean이 준비되고, 웹 애플리케이션이면 내장 Tomcat도 시작됩니다. 그래서 이 코드는 짧지만 매우 많은 일이 뒤에서 일어나게 만드는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애플리케이션을 실행해 보겠습니다. STS4에서는 프로젝트를 우클릭하고 `Run As &gt; Spring Boot App`을 선택할 수 있습니다. 실행하면 콘솔에 Spring Boot 배너와 여러 로그가 출력됩니다. 여기서 꼭 확인할 것은 애플리케이션이 시작되었다는 메시지와 포트 번호입니다. 기본적으로 8080 포트를 사용합니다. 포트가 열렸다는 것은 브라우저나 API 도구가 이 애플리케이션에 요청을 보낼 수 있다는 뜻입니다. 즉, 지금 우리 PC 안에서 작은 서버 프로그램이 실행 중인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브라우저에서 `http://localhost:8080/hello`로 접속합니다. 브라우저는 이 주소를 바탕으로 HTTP 요청을 만듭니다. 요청은 우리 PC에서 실행 중인 Spring Boot 애플리케이션으로 전달됩니다. Spring Boot는 `/hello` 경로를 처리할 Controller 메서드를 찾고, 우리가 작성한 `hello()` 메서드를 실행합니다. 그 결과 문자열인 `Hello Spring Boot`가 응답으로 돌아옵니다. 화면에 이 문장이 보이면 오늘의 가장 작은 서버 프로그램은 성공적으로 동작한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실행한 결과를 전체 흐름으로 다시 정리해 보겠습니다. 브라우저에서 `/hello` 요청이 만들어집니다. 이 요청은 내장 Tomcat이 받습니다. Tomcat은 웹 서버 역할을 하면서 요청을 Spring MVC 쪽으로 넘깁니다. Spring MVC는 등록된 Controller와 매핑 정보를 보고 `/hello`를 처리할 메서드를 찾습니다. 우리가 만든 `HelloController`의 `hello()` 메서드가 실행되고, 반환된 문자열이 HTTP 응답으로 브라우저에 돌아갑니다. 이 그림은 앞으로 계속 확장됩니다. 나중에는 Controller 뒤에 Service가 붙고, Repository와 데이터베이스가 붙습니다. 하지만 출발점은 오늘 본 이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적용 문제를 하나 생각해 보겠습니다. 브라우저에서 `/hello`를 입력했는데 결과가 나오지 않는다면 어디부터 봐야 할까요? 첫째, 서버가 실제로 실행되었는지 봅니다. 콘솔에 Started 메시지가 없거나 오류가 있다면 요청을 받을 수 없습니다. 둘째, URL이 맞는지 봅니다. 포트가 다르거나 경로가 틀리면 원하는 Controller까지 요청이 가지 않습니다. 셋째, Controller 코드의 매핑이 맞는지 봅니다. `@GetMapping("/hello")`가 아니라 다른 경로로 되어 있으면 404가 날 수 있습니다. 이렇게 흐름을 알고 있으면 문제를 감으로 찾지 않고 순서대로 좁혀갈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내용을 정리하겠습니다. 서버 프로그램은 요청을 받아 처리하고 응답을 돌려주는 프로그램입니다. HTTP는 브라우저와 서버가 메시지를 주고받기 위한 약속입니다. 웹 서버는 정적 리소스 전달에 강하고, WAS는 동적인 애플리케이션 로직을 처리합니다. Spring Boot는 내장 서버와 자동 설정을 통해 웹 애플리케이션을 빠르게 실행할 수 있게 해줍니다. 그리고 우리는 `/hello` 요청을 받아 문자열을 응답하는 가장 작은 서버 프로그램을 실행해 보았습니다. 다음 차시부터는 이 흐름이 어떤 원리로 Controller 메서드까지 연결되는지 더 깊게 들어가겠습니다.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평가는 Spring Boot의 내장 서버 실행 이유를 확인하는 문제입니다. 정답은 2번입니다. Spring Boot는 프로젝트의 의존성과 자동 설정을 바탕으로 필요한 실행 환경을 구성합니다. Web MVC 스타터가 있으면 웹 애플리케이션으로 판단하고, 내장 Tomcat과 Spring MVC 구성을 준비할 수 있습니다. 1번처럼 브라우저가 Tomcat을 설치하는 것이 아니고, 3번처럼 모든 Java 프로그램이 8080 포트를 여는 것도 아닙니다. 4번은 데이터베이스와 관련된 내용이라 이번 질문의 핵심과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문제는 HTTP의 기본 구조를 확인합니다. 정답은 O입니다. HTTP에서 클라이언트, 보통은 브라우저가 서버에 보내는 메시지를 요청이라고 합니다. 서버가 그 요청에 대해 돌려주는 메시지를 응답이라고 합니다. 앞으로 REST API를 만들 때 우리는 계속 요청과 응답을 설계하게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문제의 정답은 X입니다. 일반적으로 웹 서버는 정적 리소스 전달에 강하고, WAS는 애플리케이션 로직을 실행하는 역할을 담당합니다. 실제 시스템에서는 구성 방식에 따라 역할이 섞일 수 있지만, 기초 개념을 배울 때는 정적 리소스 중심의 웹 서버와 동적 로직 중심의 WAS를 구분해서 이해하는 것이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이번 차시에서 활용한 참고자료입니다. Spring Boot 공식 문서는 Spring Boot가 어떤 목표와 특징을 가지는지 확인하는 데 사용했습니다. Spring Boot 4.1.0 시스템 요구사항 문서는 JDK 21과 Gradle 기준을 정하는 근거로 사용했습니다. 첫 애플리케이션 튜토리얼은 `spring-boot-starter-webmvc`, `@RestController`, 요청 매핑, `SpringApplication.run`, 내장 Tomcat 시작 흐름을 설명하는 근거로 사용했습니다. Spring Tools 공식 페이지는 Spring Tools for Eclipse와 Spring Initializr 기반 실습 환경을 설명하는 데 사용했습니다. MDN HTTP Overview는 HTTP 요청과 응답의 기본 구조를 설명하는 근거로 사용했습니다. eGovFrame GitHub 예제는 공공 예제에서도 Spring Boot 기반 BackEnd 흐름을 확인할 수 있는 최신 실무 연결 자료로 활용했습니다.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표지</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부제: Spring Boot가 웹 애플리케이션을 실행하는 방식을 처음부터 보기</a:t>
            </a:r>
          </a:p>
          <a:p>
            <a:pPr>
              <a:defRPr sz="2200"/>
            </a:pPr>
            <a:r>
              <a:t>화면: 템플릿 표지 레이아웃 사용. 오른쪽 또는 하단에 웹 브라우저, 서버, Spring Boot 로고 느낌의 상징 이미지를 배치.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최신 이슈로 학습 열기: 공공 예제도 Spring Boot 기반으로 이동하고 있다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Spring Boot 4.1.0은 Java 17 이상, Gradle 8.14 이상 또는 9.x를 지원한다.</a:t>
            </a:r>
          </a:p>
          <a:p>
            <a:pPr>
              <a:defRPr sz="2200"/>
            </a:pPr>
            <a:r>
              <a:t>이 과정 실습 기준은 JDK 21, Spring Boot 4.1.0, Gradle, Spring Tools for Eclipse 5.2.0 이상이다.</a:t>
            </a:r>
          </a:p>
          <a:p>
            <a:pPr>
              <a:defRPr sz="2200"/>
            </a:pPr>
            <a:r>
              <a:t>eGovFrame 심플홈페이지 BackEnd 예제도 Spring Boot 기반 BackEnd/FrontEnd 분리 흐름을 보여준다.</a:t>
            </a:r>
          </a:p>
          <a:p>
            <a:pPr>
              <a:defRPr sz="2200"/>
            </a:pPr>
            <a:r>
              <a:t>기존 JSP 뷰 중심에서 BackEnd와 FrontEnd를 분리한 예시를 제공한다.</a:t>
            </a:r>
          </a:p>
          <a:p>
            <a:pPr>
              <a:defRPr sz="2200"/>
            </a:pPr>
            <a:r>
              <a:t>화면: 좌측에는 “과거: JSP/WAR/서버 배포” 이미지, 우측에는 “현재: API BackEnd + FrontEnd 분리 + Spring Boot” 이미지.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학습 목표</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3개:</a:t>
            </a:r>
          </a:p>
          <a:p>
            <a:pPr>
              <a:defRPr sz="2200"/>
            </a:pPr>
            <a:r>
              <a:t>1. 서버 프로그램의 역할을 설명할 수 있다.</a:t>
            </a:r>
          </a:p>
          <a:p>
            <a:pPr>
              <a:defRPr sz="2200"/>
            </a:pPr>
            <a:r>
              <a:t>2. 웹 서버와 웹 애플리케이션 서버의 차이를 구분할 수 있다.</a:t>
            </a:r>
          </a:p>
          <a:p>
            <a:pPr>
              <a:defRPr sz="2200"/>
            </a:pPr>
            <a:r>
              <a:t>3. Spring Boot 애플리케이션이 내장 서버와 자동 설정으로 실행되는 흐름을 설명할 수 있다.</a:t>
            </a:r>
          </a:p>
          <a:p>
            <a:pPr>
              <a:defRPr sz="2200"/>
            </a:pPr>
            <a:r>
              <a:t>화면: 세 개의 목표를 아이콘 중심으로 배치. 서버 아이콘, HTTP 화살표, Spring Boot 실행 버튼.</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서버 프로그램은 요청을 받아 결과를 돌려주는 일꾼이다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요청을 받는다</a:t>
            </a:r>
          </a:p>
          <a:p>
            <a:pPr>
              <a:defRPr sz="2200"/>
            </a:pPr>
            <a:r>
              <a:t>필요한 처리를 한다</a:t>
            </a:r>
          </a:p>
          <a:p>
            <a:pPr>
              <a:defRPr sz="2200"/>
            </a:pPr>
            <a:r>
              <a:t>응답을 돌려준다</a:t>
            </a:r>
          </a:p>
          <a:p>
            <a:pPr>
              <a:defRPr sz="2200"/>
            </a:pPr>
            <a:r>
              <a:t>화면: 손님 -&gt; 주문서 -&gt; 주방 -&gt; 완성된 음식 흐름의 큰 일러스트.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HTTP는 브라우저와 서버가 주고받는 약속이다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Request: 브라우저가 서버에 보내는 메시지</a:t>
            </a:r>
          </a:p>
          <a:p>
            <a:pPr>
              <a:defRPr sz="2200"/>
            </a:pPr>
            <a:r>
              <a:t>Response: 서버가 브라우저에 돌려주는 메시지</a:t>
            </a:r>
          </a:p>
          <a:p>
            <a:pPr>
              <a:defRPr sz="2200"/>
            </a:pPr>
            <a:r>
              <a:t>화면: 브라우저 -&gt; GET /hello -&gt; 서버 -&gt; 200 OK + Hello 흐름.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HTTP 메시지는 사람이 읽을 수 있는 구조를 가진다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왼쪽: 요청 예시 `GET /hello HTTP/1.1`</a:t>
            </a:r>
          </a:p>
          <a:p>
            <a:pPr>
              <a:defRPr sz="2200"/>
            </a:pPr>
            <a:r>
              <a:t>오른쪽: 응답 예시 `HTTP/1.1 200 OK`</a:t>
            </a:r>
          </a:p>
          <a:p>
            <a:pPr>
              <a:defRPr sz="2200"/>
            </a:pPr>
            <a:r>
              <a:t>하단: Method, Path, Status Code 라벨.</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GET /hello HTTP/1.1</a:t>
            </a:r>
          </a:p>
          <a:p>
            <a:r>
              <a:t>Host: localhost:8080</a:t>
            </a:r>
          </a:p>
          <a:p/>
          <a:p>
            <a:r>
              <a:t>HTTP/1.1 200 OK</a:t>
            </a:r>
          </a:p>
          <a:p>
            <a:r>
              <a:t>Content-Type: text/plain</a:t>
            </a:r>
          </a:p>
          <a:p/>
          <a:p>
            <a:r>
              <a:t>Hello Spring Boot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웹 서버는 정적 파일을 빠르게 전달하는 문지기다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HTML, CSS, JS, 이미지 전달</a:t>
            </a:r>
          </a:p>
          <a:p>
            <a:pPr>
              <a:defRPr sz="2200"/>
            </a:pPr>
            <a:r>
              <a:t>정적 파일 처리에 강함</a:t>
            </a:r>
          </a:p>
          <a:p>
            <a:pPr>
              <a:defRPr sz="2200"/>
            </a:pPr>
            <a:r>
              <a:t>필요하면 WAS로 요청 전달</a:t>
            </a:r>
          </a:p>
          <a:p>
            <a:pPr>
              <a:defRPr sz="2200"/>
            </a:pPr>
            <a:r>
              <a:t>화면: 웹 서버가 파일 캐비닛에서 HTML/CSS/이미지를 꺼내 브라우저로 전달하는 그림.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WAS는 실행 중인 애플리케이션 로직을 처리한다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로그인</a:t>
            </a:r>
          </a:p>
          <a:p>
            <a:pPr>
              <a:defRPr sz="2200"/>
            </a:pPr>
            <a:r>
              <a:t>게시글 등록</a:t>
            </a:r>
          </a:p>
          <a:p>
            <a:pPr>
              <a:defRPr sz="2200"/>
            </a:pPr>
            <a:r>
              <a:t>주문 처리</a:t>
            </a:r>
          </a:p>
          <a:p>
            <a:pPr>
              <a:defRPr sz="2200"/>
            </a:pPr>
            <a:r>
              <a:t>데이터베이스 연동</a:t>
            </a:r>
          </a:p>
          <a:p>
            <a:pPr>
              <a:defRPr sz="2200"/>
            </a:pPr>
            <a:r>
              <a:t>화면: WAS 안에 Controller, Service, Repository, DB 연결이 있는 그림.</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과거 방식: 서버를 따로 설치하고 애플리케이션을 올렸다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Tomcat 설치</a:t>
            </a:r>
          </a:p>
          <a:p>
            <a:pPr>
              <a:defRPr sz="2200"/>
            </a:pPr>
            <a:r>
              <a:t>WAR 파일 배포</a:t>
            </a:r>
          </a:p>
          <a:p>
            <a:pPr>
              <a:defRPr sz="2200"/>
            </a:pPr>
            <a:r>
              <a:t>서버 설정 관리</a:t>
            </a:r>
          </a:p>
          <a:p>
            <a:pPr>
              <a:defRPr sz="2200"/>
            </a:pPr>
            <a:r>
              <a:t>화면: 개발자가 WAR 박스를 외부 Tomcat 서버 랙에 올리는 장면.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Spring Boot 방식: 애플리케이션이 서버를 품고 실행된다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애플리케이션 실행</a:t>
            </a:r>
          </a:p>
          <a:p>
            <a:pPr>
              <a:defRPr sz="2200"/>
            </a:pPr>
            <a:r>
              <a:t>내장 Tomcat 시작</a:t>
            </a:r>
          </a:p>
          <a:p>
            <a:pPr>
              <a:defRPr sz="2200"/>
            </a:pPr>
            <a:r>
              <a:t>요청 처리 준비 완료</a:t>
            </a:r>
          </a:p>
          <a:p>
            <a:pPr>
              <a:defRPr sz="2200"/>
            </a:pPr>
            <a:r>
              <a:t>화면: 하나의 Spring Boot 상자 안에 Java 코드와 Tomcat 엔진이 함께 들어 있는 그림.</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자동 설정은 “상황을 보고 기본 준비를 해주는 도우미”다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Web MVC starter 있음</a:t>
            </a:r>
          </a:p>
          <a:p>
            <a:pPr>
              <a:defRPr sz="2200"/>
            </a:pPr>
            <a:r>
              <a:t>Spring MVC/Tomcat 설정 추정</a:t>
            </a:r>
          </a:p>
          <a:p>
            <a:pPr>
              <a:defRPr sz="2200"/>
            </a:pPr>
            <a:r>
              <a:t>개발자는 핵심 코드에 집중</a:t>
            </a:r>
          </a:p>
          <a:p>
            <a:pPr>
              <a:defRPr sz="2200"/>
            </a:pPr>
            <a:r>
              <a:t>화면: Spring Boot가 프로젝트 가방 안의 의존성을 보고 필요한 장비를 자동으로 꺼내는 그림.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실무 중간 사례: “서버 설치부터 하라”는 말이 줄어든다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 두 개발자 비교.</a:t>
            </a:r>
          </a:p>
          <a:p>
            <a:pPr>
              <a:defRPr sz="2200"/>
            </a:pPr>
            <a:r>
              <a:t>A: 외부 서버 설치, 포트 설정, 배포 오류로 지친 모습</a:t>
            </a:r>
          </a:p>
          <a:p>
            <a:pPr>
              <a:defRPr sz="2200"/>
            </a:pPr>
            <a:r>
              <a:t>B: Spring Boot App 실행 후 브라우저 확인</a:t>
            </a:r>
          </a:p>
          <a:p>
            <a:pPr>
              <a:defRPr sz="2200"/>
            </a:pPr>
            <a:r>
              <a:t>화면 글자는 최소화: “설정 먼저” vs “실행 먼저”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준비: 오늘 만들 가장 작은 서버 프로그램</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프로젝트명: `ch01-hello-server`</a:t>
            </a:r>
          </a:p>
          <a:p>
            <a:pPr>
              <a:defRPr sz="2200"/>
            </a:pPr>
            <a:r>
              <a:t>주소: `http://localhost:8080/hello`</a:t>
            </a:r>
          </a:p>
          <a:p>
            <a:pPr>
              <a:defRPr sz="2200"/>
            </a:pPr>
            <a:r>
              <a:t>응답: `Hello Spring Boot`</a:t>
            </a:r>
          </a:p>
          <a:p>
            <a:pPr>
              <a:defRPr sz="2200"/>
            </a:pPr>
            <a:r>
              <a:t>하단에는 STS4 실행 화면 캡처 자리 표시.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1: Spring Starter Project 만들기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STS4 New &gt; Spring Starter Project 화면 캡처</a:t>
            </a:r>
          </a:p>
          <a:p>
            <a:pPr>
              <a:defRPr sz="2200"/>
            </a:pPr>
            <a:r>
              <a:t>Group: `com.example`</a:t>
            </a:r>
          </a:p>
          <a:p>
            <a:pPr>
              <a:defRPr sz="2200"/>
            </a:pPr>
            <a:r>
              <a:t>Artifact: `ch01-hello-server`</a:t>
            </a:r>
          </a:p>
          <a:p>
            <a:pPr>
              <a:defRPr sz="2200"/>
            </a:pPr>
            <a:r>
              <a:t>Name: `ch01-hello-server`</a:t>
            </a:r>
          </a:p>
          <a:p>
            <a:pPr>
              <a:defRPr sz="2200"/>
            </a:pPr>
            <a:r>
              <a:t>Package: `com.example.ch01`</a:t>
            </a:r>
          </a:p>
          <a:p>
            <a:pPr>
              <a:defRPr sz="2200"/>
            </a:pPr>
            <a:r>
              <a:t>짧은 문구: “웹 의존성을 추가하면 서버 실행 준비가 쉬워진다”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2: Web MVC 스타터 추가하기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Dependencies 선택 화면 캡처</a:t>
            </a:r>
          </a:p>
          <a:p>
            <a:pPr>
              <a:defRPr sz="2200"/>
            </a:pPr>
            <a:r>
              <a:t>Spring Web MVC 선택 표시</a:t>
            </a:r>
          </a:p>
          <a:p>
            <a:pPr>
              <a:defRPr sz="2200"/>
            </a:pPr>
            <a:r>
              <a:t>오른쪽에는 “Tomcat + Spring MVC 자동 구성” 미니 아이콘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3: HelloController 작성하기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`HelloController.java` 코드 크게 표시</a:t>
            </a:r>
          </a:p>
          <a:p>
            <a:pPr>
              <a:defRPr sz="2200"/>
            </a:pPr>
            <a:r>
              <a:t>핵심 강조: `@RestController`, `@GetMapping("/hello")`</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package com.example.ch01;</a:t>
            </a:r>
          </a:p>
          <a:p/>
          <a:p>
            <a:r>
              <a:t>import org.springframework.web.bind.annotation.GetMapping;</a:t>
            </a:r>
          </a:p>
          <a:p>
            <a:r>
              <a:t>import org.springframework.web.bind.annotation.RestController;</a:t>
            </a:r>
          </a:p>
          <a:p/>
          <a:p>
            <a:r>
              <a:t>@RestController</a:t>
            </a:r>
          </a:p>
          <a:p>
            <a:r>
              <a:t>public class HelloController {</a:t>
            </a:r>
          </a:p>
          <a:p/>
          <a:p>
            <a:r>
              <a:t>    @GetMapping("/hello")</a:t>
            </a:r>
          </a:p>
          <a:p>
            <a:r>
              <a:t>    public String hello() {</a:t>
            </a:r>
          </a:p>
          <a:p>
            <a:r>
              <a:t>        return "Hello Spring Boot";</a:t>
            </a:r>
          </a:p>
          <a:p>
            <a:r>
              <a:t>    }</a:t>
            </a:r>
          </a:p>
          <a:p>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4: main 메서드가 애플리케이션을 시작한다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`Ch01HelloServerApplication.java` 코드</a:t>
            </a:r>
          </a:p>
          <a:p>
            <a:pPr>
              <a:defRPr sz="2200"/>
            </a:pPr>
            <a:r>
              <a:t>`SpringApplication.run(...)` 강조</a:t>
            </a:r>
          </a:p>
          <a:p>
            <a:pPr>
              <a:defRPr sz="2200"/>
            </a:pPr>
            <a:r>
              <a:t>오른쪽에 실행 버튼 아이콘</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package com.example.ch01;</a:t>
            </a:r>
          </a:p>
          <a:p/>
          <a:p>
            <a:r>
              <a:t>import org.springframework.boot.SpringApplication;</a:t>
            </a:r>
          </a:p>
          <a:p>
            <a:r>
              <a:t>import org.springframework.boot.autoconfigure.SpringBootApplication;</a:t>
            </a:r>
          </a:p>
          <a:p/>
          <a:p>
            <a:r>
              <a:t>@SpringBootApplication</a:t>
            </a:r>
          </a:p>
          <a:p>
            <a:r>
              <a:t>public class Ch01HelloServerApplication {</a:t>
            </a:r>
          </a:p>
          <a:p/>
          <a:p>
            <a:r>
              <a:t>    public static void main(String[] args) {</a:t>
            </a:r>
          </a:p>
          <a:p>
            <a:r>
              <a:t>        SpringApplication.run(Ch01HelloServerApplication.class, args);</a:t>
            </a:r>
          </a:p>
          <a:p>
            <a:r>
              <a:t>    }</a:t>
            </a:r>
          </a:p>
          <a:p>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5: Spring Boot App으로 실행하기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STS4 `Run As &gt; Spring Boot App` 캡처</a:t>
            </a:r>
          </a:p>
          <a:p>
            <a:pPr>
              <a:defRPr sz="2200"/>
            </a:pPr>
            <a:r>
              <a:t>Console의 Started 로그 캡처</a:t>
            </a:r>
          </a:p>
          <a:p>
            <a:pPr>
              <a:defRPr sz="2200"/>
            </a:pPr>
            <a:r>
              <a:t>`Tomcat started on port 8080`에 하이라이트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6: 브라우저에서 `/hello` 호출하기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주소창: `http://localhost:8080/hello`</a:t>
            </a:r>
          </a:p>
          <a:p>
            <a:pPr>
              <a:defRPr sz="2200"/>
            </a:pPr>
            <a:r>
              <a:t>화면 결과: `Hello Spring Boot`</a:t>
            </a:r>
          </a:p>
          <a:p>
            <a:pPr>
              <a:defRPr sz="2200"/>
            </a:pPr>
            <a:r>
              <a:t>옆에 요청-응답 미니 화살표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요청이 코드까지 도착하는 전체 그림</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 Browser -&gt; Embedded Tomcat -&gt; Spring MVC -&gt; HelloController -&gt; Response 흐름도.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적용하기: 어디에서 문제가 났는지 찾아보기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 세 가지 상황 카드</a:t>
            </a:r>
          </a:p>
          <a:p>
            <a:pPr>
              <a:defRPr sz="2200"/>
            </a:pPr>
            <a:r>
              <a:t>1. 서버 실행 실패</a:t>
            </a:r>
          </a:p>
          <a:p>
            <a:pPr>
              <a:defRPr sz="2200"/>
            </a:pPr>
            <a:r>
              <a:t>2. 404 Not Found</a:t>
            </a:r>
          </a:p>
          <a:p>
            <a:pPr>
              <a:defRPr sz="2200"/>
            </a:pPr>
            <a:r>
              <a:t>3. 응답 문자열이 예상과 다름</a:t>
            </a:r>
          </a:p>
          <a:p>
            <a:pPr>
              <a:defRPr sz="2200"/>
            </a:pPr>
            <a:r>
              <a:t>하단: “실행 로그 -&gt; URL -&gt; Controller 코드” 순서.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정리: 오늘 배운 핵심 흐름</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브라우저</a:t>
            </a:r>
          </a:p>
          <a:p>
            <a:pPr>
              <a:defRPr sz="2200"/>
            </a:pPr>
            <a:r>
              <a:t>HTTP 요청</a:t>
            </a:r>
          </a:p>
          <a:p>
            <a:pPr>
              <a:defRPr sz="2200"/>
            </a:pPr>
            <a:r>
              <a:t>내장 Tomcat</a:t>
            </a:r>
          </a:p>
          <a:p>
            <a:pPr>
              <a:defRPr sz="2200"/>
            </a:pPr>
            <a:r>
              <a:t>Spring MVC</a:t>
            </a:r>
          </a:p>
          <a:p>
            <a:pPr>
              <a:defRPr sz="2200"/>
            </a:pPr>
            <a:r>
              <a:t>Controller</a:t>
            </a:r>
          </a:p>
          <a:p>
            <a:pPr>
              <a:defRPr sz="2200"/>
            </a:pPr>
            <a:r>
              <a:t>HTTP 응답</a:t>
            </a:r>
          </a:p>
          <a:p>
            <a:pPr>
              <a:defRPr sz="2200"/>
            </a:pPr>
            <a:r>
              <a:t>하단 짧은 문장: “Spring Boot는 이 실행 환경을 빠르게 시작하게 해준다.”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평가하기 1: 사지선다형</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문제: Spring Boot 웹 애플리케이션을 실행했을 때 내장 Tomcat이 시작되는 이유로 가장 적절한 것은?</a:t>
            </a:r>
          </a:p>
          <a:p>
            <a:pPr>
              <a:defRPr sz="2200"/>
            </a:pPr>
            <a:r>
              <a:t>보기:</a:t>
            </a:r>
          </a:p>
          <a:p>
            <a:pPr>
              <a:defRPr sz="2200"/>
            </a:pPr>
            <a:r>
              <a:t>1. 브라우저가 자동으로 Tomcat을 설치하기 때문이다.</a:t>
            </a:r>
          </a:p>
          <a:p>
            <a:pPr>
              <a:defRPr sz="2200"/>
            </a:pPr>
            <a:r>
              <a:t>2. Web MVC 스타터와 자동 설정을 바탕으로 Spring Boot가 웹 애플리케이션 실행 환경을 구성하기 때문이다.</a:t>
            </a:r>
          </a:p>
          <a:p>
            <a:pPr>
              <a:defRPr sz="2200"/>
            </a:pPr>
            <a:r>
              <a:t>3. 모든 Java 프로그램은 기본적으로 8080 포트를 열기 때문이다.</a:t>
            </a:r>
          </a:p>
          <a:p>
            <a:pPr>
              <a:defRPr sz="2200"/>
            </a:pPr>
            <a:r>
              <a:t>4. Controller 클래스가 데이터베이스를 자동으로 생성하기 때문이다.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평가하기 2: 진위형</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문제: HTTP에서 브라우저가 서버에 보내는 메시지를 요청(Request), 서버가 브라우저로 돌려주는 메시지를 응답(Response)이라고 한다. O/X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평가하기 3: 진위형</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문제: 웹 서버는 항상 데이터베이스 조회와 비즈니스 로직 실행을 직접 담당하며, WAS는 정적 파일만 전달한다. O/X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참고자료</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목록:</a:t>
            </a:r>
          </a:p>
          <a:p>
            <a:pPr>
              <a:defRPr sz="2200"/>
            </a:pPr>
            <a:r>
              <a:t>Spring Boot 공식 문서</a:t>
            </a:r>
          </a:p>
          <a:p>
            <a:pPr>
              <a:defRPr sz="2200"/>
            </a:pPr>
            <a:r>
              <a:t>Spring Boot 첫 애플리케이션 튜토리얼</a:t>
            </a:r>
          </a:p>
          <a:p>
            <a:pPr>
              <a:defRPr sz="2200"/>
            </a:pPr>
            <a:r>
              <a:t>Spring Tools 공식 페이지</a:t>
            </a:r>
          </a:p>
          <a:p>
            <a:pPr>
              <a:defRPr sz="2200"/>
            </a:pPr>
            <a:r>
              <a:t>MDN HTTP Overview</a:t>
            </a:r>
          </a:p>
          <a:p>
            <a:pPr>
              <a:defRPr sz="2200"/>
            </a:pPr>
            <a:r>
              <a:t>eGovFrame 심플홈페이지 BackEnd GitHub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